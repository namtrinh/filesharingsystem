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61" r:id="rId3"/>
    <p:sldId id="270" r:id="rId4"/>
    <p:sldId id="262" r:id="rId5"/>
    <p:sldId id="263" r:id="rId6"/>
    <p:sldId id="264"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89587" autoAdjust="0"/>
  </p:normalViewPr>
  <p:slideViewPr>
    <p:cSldViewPr>
      <p:cViewPr varScale="1">
        <p:scale>
          <a:sx n="87" d="100"/>
          <a:sy n="87" d="100"/>
        </p:scale>
        <p:origin x="528" y="5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49F7025-33D9-4E9F-9955-A14222A03D05}" type="datetimeFigureOut">
              <a:rPr lang="en-US" smtClean="0"/>
              <a:t>3/25/2024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6D3E3EA-CC6A-448F-83C3-9A526F33CF9E}" type="slidenum">
              <a:rPr lang="en-US" smtClean="0"/>
              <a:t>‹#›</a:t>
            </a:fld>
            <a:endParaRPr lang="en-US"/>
          </a:p>
        </p:txBody>
      </p:sp>
    </p:spTree>
    <p:extLst>
      <p:ext uri="{BB962C8B-B14F-4D97-AF65-F5344CB8AC3E}">
        <p14:creationId xmlns:p14="http://schemas.microsoft.com/office/powerpoint/2010/main" val="1352526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a:t>
            </a:fld>
            <a:endParaRPr lang="en-US"/>
          </a:p>
        </p:txBody>
      </p:sp>
    </p:spTree>
    <p:extLst>
      <p:ext uri="{BB962C8B-B14F-4D97-AF65-F5344CB8AC3E}">
        <p14:creationId xmlns:p14="http://schemas.microsoft.com/office/powerpoint/2010/main" val="42618542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E5571-560F-4DFC-BA97-61ACA5F7ADE1}" type="slidenum">
              <a:rPr lang="en-US" smtClean="0"/>
              <a:t>‹#›</a:t>
            </a:fld>
            <a:endParaRPr lang="en-US"/>
          </a:p>
        </p:txBody>
      </p:sp>
    </p:spTree>
    <p:extLst>
      <p:ext uri="{BB962C8B-B14F-4D97-AF65-F5344CB8AC3E}">
        <p14:creationId xmlns:p14="http://schemas.microsoft.com/office/powerpoint/2010/main" val="36367254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1" name="Slide Number Placeholder 5"/>
          <p:cNvSpPr>
            <a:spLocks noGrp="1"/>
          </p:cNvSpPr>
          <p:nvPr>
            <p:ph type="sldNum" sz="quarter" idx="12"/>
          </p:nvPr>
        </p:nvSpPr>
        <p:spPr>
          <a:xfrm>
            <a:off x="9347200" y="6467476"/>
            <a:ext cx="2844800" cy="365125"/>
          </a:xfrm>
        </p:spPr>
        <p:txBody>
          <a:bodyPr/>
          <a:lstStyle>
            <a:lvl1pPr>
              <a:defRPr sz="1600" b="1">
                <a:solidFill>
                  <a:srgbClr val="002060"/>
                </a:solidFill>
                <a:latin typeface="Cambria" panose="02040503050406030204" pitchFamily="18" charset="0"/>
              </a:defRPr>
            </a:lvl1pPr>
          </a:lstStyle>
          <a:p>
            <a:r>
              <a:rPr lang="en-US"/>
              <a:t>Trang </a:t>
            </a:r>
            <a:fld id="{99166BD8-DA3C-4BE0-9C00-AA0485D1F6DE}" type="slidenum">
              <a:rPr lang="en-US" smtClean="0"/>
              <a:pPr/>
              <a:t>‹#›</a:t>
            </a:fld>
            <a:endParaRPr lang="en-US"/>
          </a:p>
        </p:txBody>
      </p:sp>
      <p:sp>
        <p:nvSpPr>
          <p:cNvPr id="12" name="Rectangle 11"/>
          <p:cNvSpPr>
            <a:spLocks noChangeArrowheads="1"/>
          </p:cNvSpPr>
          <p:nvPr userDrawn="1"/>
        </p:nvSpPr>
        <p:spPr bwMode="auto">
          <a:xfrm>
            <a:off x="0" y="705"/>
            <a:ext cx="12192000" cy="424027"/>
          </a:xfrm>
          <a:prstGeom prst="rect">
            <a:avLst/>
          </a:prstGeom>
          <a:noFill/>
          <a:ln>
            <a:noFill/>
          </a:ln>
          <a:effectLst/>
        </p:spPr>
        <p:txBody>
          <a:bodyPr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80000"/>
              </a:lnSpc>
            </a:pPr>
            <a:r>
              <a:rPr lang="en-US" sz="1400" b="1" baseline="0">
                <a:solidFill>
                  <a:schemeClr val="bg1"/>
                </a:solidFill>
                <a:latin typeface="Cambria" panose="02040503050406030204" pitchFamily="18" charset="0"/>
                <a:cs typeface="+mn-cs"/>
              </a:rPr>
              <a:t>Web </a:t>
            </a:r>
            <a:r>
              <a:rPr lang="en-US" sz="1400" b="1" baseline="0" err="1">
                <a:solidFill>
                  <a:schemeClr val="bg1"/>
                </a:solidFill>
                <a:latin typeface="Cambria" panose="02040503050406030204" pitchFamily="18" charset="0"/>
                <a:cs typeface="+mn-cs"/>
              </a:rPr>
              <a:t>kinh</a:t>
            </a:r>
            <a:r>
              <a:rPr lang="en-US" sz="1400" b="1" baseline="0">
                <a:solidFill>
                  <a:schemeClr val="bg1"/>
                </a:solidFill>
                <a:latin typeface="Cambria" panose="02040503050406030204" pitchFamily="18" charset="0"/>
                <a:cs typeface="+mn-cs"/>
              </a:rPr>
              <a:t> </a:t>
            </a:r>
            <a:r>
              <a:rPr lang="en-US" sz="1400" b="1" baseline="0" err="1">
                <a:solidFill>
                  <a:schemeClr val="bg1"/>
                </a:solidFill>
                <a:latin typeface="Cambria" panose="02040503050406030204" pitchFamily="18" charset="0"/>
                <a:cs typeface="+mn-cs"/>
              </a:rPr>
              <a:t>doanh</a:t>
            </a:r>
            <a:r>
              <a:rPr lang="en-US" sz="1400" b="1" baseline="0">
                <a:solidFill>
                  <a:schemeClr val="bg1"/>
                </a:solidFill>
                <a:latin typeface="Cambria" panose="02040503050406030204" pitchFamily="18" charset="0"/>
                <a:cs typeface="+mn-cs"/>
              </a:rPr>
              <a:t> 1</a:t>
            </a:r>
            <a:endParaRPr lang="en-US" sz="1400" b="1" baseline="0">
              <a:solidFill>
                <a:schemeClr val="bg1"/>
              </a:solidFill>
              <a:latin typeface="Cambria" panose="02040503050406030204" pitchFamily="18" charset="0"/>
              <a:cs typeface="Times New Roman" pitchFamily="18" charset="0"/>
            </a:endParaRPr>
          </a:p>
        </p:txBody>
      </p:sp>
      <p:sp>
        <p:nvSpPr>
          <p:cNvPr id="4" name="TextBox 3"/>
          <p:cNvSpPr txBox="1"/>
          <p:nvPr userDrawn="1"/>
        </p:nvSpPr>
        <p:spPr>
          <a:xfrm>
            <a:off x="23000" y="11668"/>
            <a:ext cx="6474849" cy="369332"/>
          </a:xfrm>
          <a:prstGeom prst="rect">
            <a:avLst/>
          </a:prstGeom>
          <a:noFill/>
        </p:spPr>
        <p:txBody>
          <a:bodyPr wrap="non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cap="small">
                <a:solidFill>
                  <a:schemeClr val="bg1"/>
                </a:solidFill>
                <a:effectLst/>
                <a:latin typeface="Cambria" panose="02040503050406030204" pitchFamily="18" charset="0"/>
                <a:ea typeface="+mn-ea"/>
                <a:cs typeface="+mn-cs"/>
              </a:rPr>
              <a:t>Working Hard &amp; Smart today for a better tomorrow</a:t>
            </a:r>
            <a:endParaRPr lang="en-US" sz="1800" b="0">
              <a:solidFill>
                <a:schemeClr val="bg1"/>
              </a:solidFill>
              <a:latin typeface="Cambria" panose="02040503050406030204" pitchFamily="18" charset="0"/>
            </a:endParaRPr>
          </a:p>
        </p:txBody>
      </p:sp>
    </p:spTree>
    <p:extLst>
      <p:ext uri="{BB962C8B-B14F-4D97-AF65-F5344CB8AC3E}">
        <p14:creationId xmlns:p14="http://schemas.microsoft.com/office/powerpoint/2010/main" val="20556920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E5571-560F-4DFC-BA97-61ACA5F7ADE1}" type="slidenum">
              <a:rPr lang="en-US" smtClean="0"/>
              <a:t>‹#›</a:t>
            </a:fld>
            <a:endParaRPr lang="en-US"/>
          </a:p>
        </p:txBody>
      </p:sp>
    </p:spTree>
    <p:extLst>
      <p:ext uri="{BB962C8B-B14F-4D97-AF65-F5344CB8AC3E}">
        <p14:creationId xmlns:p14="http://schemas.microsoft.com/office/powerpoint/2010/main" val="41152034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E5571-560F-4DFC-BA97-61ACA5F7ADE1}" type="slidenum">
              <a:rPr lang="en-US" smtClean="0"/>
              <a:t>‹#›</a:t>
            </a:fld>
            <a:endParaRPr lang="en-US"/>
          </a:p>
        </p:txBody>
      </p:sp>
    </p:spTree>
    <p:extLst>
      <p:ext uri="{BB962C8B-B14F-4D97-AF65-F5344CB8AC3E}">
        <p14:creationId xmlns:p14="http://schemas.microsoft.com/office/powerpoint/2010/main" val="13621230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E5571-560F-4DFC-BA97-61ACA5F7ADE1}" type="slidenum">
              <a:rPr lang="en-US" smtClean="0"/>
              <a:t>‹#›</a:t>
            </a:fld>
            <a:endParaRPr lang="en-US"/>
          </a:p>
        </p:txBody>
      </p:sp>
    </p:spTree>
    <p:extLst>
      <p:ext uri="{BB962C8B-B14F-4D97-AF65-F5344CB8AC3E}">
        <p14:creationId xmlns:p14="http://schemas.microsoft.com/office/powerpoint/2010/main" val="35260980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E5571-560F-4DFC-BA97-61ACA5F7ADE1}" type="slidenum">
              <a:rPr lang="en-US" smtClean="0"/>
              <a:t>‹#›</a:t>
            </a:fld>
            <a:endParaRPr lang="en-US"/>
          </a:p>
        </p:txBody>
      </p:sp>
    </p:spTree>
    <p:extLst>
      <p:ext uri="{BB962C8B-B14F-4D97-AF65-F5344CB8AC3E}">
        <p14:creationId xmlns:p14="http://schemas.microsoft.com/office/powerpoint/2010/main" val="2321467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E5571-560F-4DFC-BA97-61ACA5F7ADE1}" type="slidenum">
              <a:rPr lang="en-US" smtClean="0"/>
              <a:t>‹#›</a:t>
            </a:fld>
            <a:endParaRPr lang="en-US"/>
          </a:p>
        </p:txBody>
      </p:sp>
    </p:spTree>
    <p:extLst>
      <p:ext uri="{BB962C8B-B14F-4D97-AF65-F5344CB8AC3E}">
        <p14:creationId xmlns:p14="http://schemas.microsoft.com/office/powerpoint/2010/main" val="41638582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E5571-560F-4DFC-BA97-61ACA5F7ADE1}" type="slidenum">
              <a:rPr lang="en-US" smtClean="0"/>
              <a:t>‹#›</a:t>
            </a:fld>
            <a:endParaRPr lang="en-US"/>
          </a:p>
        </p:txBody>
      </p:sp>
    </p:spTree>
    <p:extLst>
      <p:ext uri="{BB962C8B-B14F-4D97-AF65-F5344CB8AC3E}">
        <p14:creationId xmlns:p14="http://schemas.microsoft.com/office/powerpoint/2010/main" val="41981282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E5571-560F-4DFC-BA97-61ACA5F7ADE1}" type="slidenum">
              <a:rPr lang="en-US" smtClean="0"/>
              <a:t>‹#›</a:t>
            </a:fld>
            <a:endParaRPr lang="en-US"/>
          </a:p>
        </p:txBody>
      </p:sp>
    </p:spTree>
    <p:extLst>
      <p:ext uri="{BB962C8B-B14F-4D97-AF65-F5344CB8AC3E}">
        <p14:creationId xmlns:p14="http://schemas.microsoft.com/office/powerpoint/2010/main" val="8697147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E5571-560F-4DFC-BA97-61ACA5F7ADE1}" type="slidenum">
              <a:rPr lang="en-US" smtClean="0"/>
              <a:t>‹#›</a:t>
            </a:fld>
            <a:endParaRPr lang="en-US"/>
          </a:p>
        </p:txBody>
      </p:sp>
    </p:spTree>
    <p:extLst>
      <p:ext uri="{BB962C8B-B14F-4D97-AF65-F5344CB8AC3E}">
        <p14:creationId xmlns:p14="http://schemas.microsoft.com/office/powerpoint/2010/main" val="29411935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E5571-560F-4DFC-BA97-61ACA5F7ADE1}" type="slidenum">
              <a:rPr lang="en-US" smtClean="0"/>
              <a:t>‹#›</a:t>
            </a:fld>
            <a:endParaRPr lang="en-US"/>
          </a:p>
        </p:txBody>
      </p:sp>
    </p:spTree>
    <p:extLst>
      <p:ext uri="{BB962C8B-B14F-4D97-AF65-F5344CB8AC3E}">
        <p14:creationId xmlns:p14="http://schemas.microsoft.com/office/powerpoint/2010/main" val="42312181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E5571-560F-4DFC-BA97-61ACA5F7ADE1}" type="slidenum">
              <a:rPr lang="en-US" smtClean="0"/>
              <a:t>‹#›</a:t>
            </a:fld>
            <a:endParaRPr lang="en-US"/>
          </a:p>
        </p:txBody>
      </p:sp>
    </p:spTree>
    <p:extLst>
      <p:ext uri="{BB962C8B-B14F-4D97-AF65-F5344CB8AC3E}">
        <p14:creationId xmlns:p14="http://schemas.microsoft.com/office/powerpoint/2010/main" val="25488443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elearning.uel.edu.vn/"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2509837" y="762000"/>
            <a:ext cx="7239000"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4400" b="0" u="sng" kern="0" err="1">
                <a:solidFill>
                  <a:srgbClr val="002060"/>
                </a:solidFill>
                <a:latin typeface="Cambria" panose="02040503050406030204" pitchFamily="18" charset="0"/>
              </a:rPr>
              <a:t>Giới</a:t>
            </a:r>
            <a:r>
              <a:rPr lang="en-US" sz="4400" b="0" u="sng" kern="0">
                <a:solidFill>
                  <a:srgbClr val="002060"/>
                </a:solidFill>
                <a:latin typeface="Cambria" panose="02040503050406030204" pitchFamily="18" charset="0"/>
              </a:rPr>
              <a:t> </a:t>
            </a:r>
            <a:r>
              <a:rPr lang="en-US" sz="4400" b="0" u="sng" kern="0" err="1">
                <a:solidFill>
                  <a:srgbClr val="002060"/>
                </a:solidFill>
                <a:latin typeface="Cambria" panose="02040503050406030204" pitchFamily="18" charset="0"/>
              </a:rPr>
              <a:t>thiệu</a:t>
            </a:r>
            <a:r>
              <a:rPr lang="en-US" sz="4400" b="0" u="sng" kern="0">
                <a:solidFill>
                  <a:srgbClr val="002060"/>
                </a:solidFill>
                <a:latin typeface="Cambria" panose="02040503050406030204" pitchFamily="18" charset="0"/>
              </a:rPr>
              <a:t> </a:t>
            </a:r>
            <a:r>
              <a:rPr lang="en-US" sz="4400" b="0" u="sng" kern="0" err="1">
                <a:solidFill>
                  <a:srgbClr val="002060"/>
                </a:solidFill>
                <a:latin typeface="Cambria" panose="02040503050406030204" pitchFamily="18" charset="0"/>
              </a:rPr>
              <a:t>môn</a:t>
            </a:r>
            <a:r>
              <a:rPr lang="en-US" sz="4400" b="0" u="sng" kern="0">
                <a:solidFill>
                  <a:srgbClr val="002060"/>
                </a:solidFill>
                <a:latin typeface="Cambria" panose="02040503050406030204" pitchFamily="18" charset="0"/>
              </a:rPr>
              <a:t> </a:t>
            </a:r>
            <a:r>
              <a:rPr lang="en-US" sz="4400" b="0" u="sng" kern="0" err="1">
                <a:solidFill>
                  <a:srgbClr val="002060"/>
                </a:solidFill>
                <a:latin typeface="Cambria" panose="02040503050406030204" pitchFamily="18" charset="0"/>
              </a:rPr>
              <a:t>học</a:t>
            </a:r>
            <a:r>
              <a:rPr lang="en-US" sz="4400" b="0" u="sng" kern="0">
                <a:solidFill>
                  <a:srgbClr val="002060"/>
                </a:solidFill>
                <a:latin typeface="Cambria" panose="02040503050406030204" pitchFamily="18" charset="0"/>
              </a:rPr>
              <a:t> </a:t>
            </a:r>
          </a:p>
          <a:p>
            <a:pPr>
              <a:defRPr/>
            </a:pPr>
            <a:r>
              <a:rPr lang="en-US" sz="4800" kern="0">
                <a:solidFill>
                  <a:schemeClr val="tx1"/>
                </a:solidFill>
                <a:latin typeface="Cambria" panose="02040503050406030204" pitchFamily="18" charset="0"/>
                <a:ea typeface="Cambria" panose="02040503050406030204" pitchFamily="18" charset="0"/>
              </a:rPr>
              <a:t>KỸ THUẬT LẬP TRÌNH VỚI PYTHON</a:t>
            </a: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1</a:t>
            </a:fld>
            <a:endParaRPr lang="en-US"/>
          </a:p>
        </p:txBody>
      </p:sp>
      <p:pic>
        <p:nvPicPr>
          <p:cNvPr id="6" name="Picture 2" descr="Image result for Python">
            <a:extLst>
              <a:ext uri="{FF2B5EF4-FFF2-40B4-BE49-F238E27FC236}">
                <a16:creationId xmlns:a16="http://schemas.microsoft.com/office/drawing/2014/main" id="{920AE674-81F7-47A5-8E7E-15E96F18AC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8600" y="2895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14599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1524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Mục tiêu môn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2</a:t>
            </a:fld>
            <a:endParaRPr lang="en-US"/>
          </a:p>
        </p:txBody>
      </p:sp>
      <p:sp>
        <p:nvSpPr>
          <p:cNvPr id="14" name="Content Placeholder 2"/>
          <p:cNvSpPr txBox="1">
            <a:spLocks/>
          </p:cNvSpPr>
          <p:nvPr/>
        </p:nvSpPr>
        <p:spPr>
          <a:xfrm>
            <a:off x="457200" y="7461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just">
              <a:lnSpc>
                <a:spcPct val="150000"/>
              </a:lnSpc>
              <a:spcBef>
                <a:spcPts val="0"/>
              </a:spcBef>
              <a:spcAft>
                <a:spcPts val="0"/>
              </a:spcAft>
              <a:buFont typeface="Times New Roman" panose="02020603050405020304" pitchFamily="18" charset="0"/>
              <a:buChar char="-"/>
            </a:pPr>
            <a:r>
              <a:rPr lang="en-US" sz="2800" i="1">
                <a:effectLst/>
                <a:latin typeface="Cambria" panose="02040503050406030204" pitchFamily="18" charset="0"/>
                <a:ea typeface="Cambria" panose="02040503050406030204" pitchFamily="18" charset="0"/>
              </a:rPr>
              <a:t>Cung cấp các kiến thức nền tảng về máy tính để sinh viên có cơ sở vận hành tốt máy tính và sử dụng những tính năng thông dụng của nó. Điều quan trọng nhất là sinh viên được trang bị các kiến thức và kỹ năng cơ bản về lập trình bằng ngôn ngữ Python để định hướng phát triển các phần mềm ứng dụng phục vụ cho các môn học sau, </a:t>
            </a:r>
            <a:r>
              <a:rPr lang="en-US" sz="2800" i="1">
                <a:solidFill>
                  <a:srgbClr val="000000"/>
                </a:solidFill>
                <a:effectLst/>
                <a:latin typeface="Cambria" panose="02040503050406030204" pitchFamily="18" charset="0"/>
                <a:ea typeface="Cambria" panose="02040503050406030204" pitchFamily="18" charset="0"/>
              </a:rPr>
              <a:t>là cơ sở kiến thức kỹ năng để định hướng phát triển trong xây dựng ứng dụng cho các phần mềm ứng dụng trong Phân tích kinh doanh và trí tuệ nhân tạo.</a:t>
            </a:r>
            <a:endParaRPr lang="en-US" sz="2800">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1622488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1524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môn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3</a:t>
            </a:fld>
            <a:endParaRPr lang="en-US"/>
          </a:p>
        </p:txBody>
      </p:sp>
      <p:graphicFrame>
        <p:nvGraphicFramePr>
          <p:cNvPr id="8" name="Table 7">
            <a:extLst>
              <a:ext uri="{FF2B5EF4-FFF2-40B4-BE49-F238E27FC236}">
                <a16:creationId xmlns:a16="http://schemas.microsoft.com/office/drawing/2014/main" id="{B9B857E0-D02A-4061-8A9A-66152AD2BFE9}"/>
              </a:ext>
            </a:extLst>
          </p:cNvPr>
          <p:cNvGraphicFramePr>
            <a:graphicFrameLocks noGrp="1"/>
          </p:cNvGraphicFramePr>
          <p:nvPr>
            <p:extLst>
              <p:ext uri="{D42A27DB-BD31-4B8C-83A1-F6EECF244321}">
                <p14:modId xmlns:p14="http://schemas.microsoft.com/office/powerpoint/2010/main" val="3763619236"/>
              </p:ext>
            </p:extLst>
          </p:nvPr>
        </p:nvGraphicFramePr>
        <p:xfrm>
          <a:off x="609600" y="838200"/>
          <a:ext cx="10619424" cy="4937760"/>
        </p:xfrm>
        <a:graphic>
          <a:graphicData uri="http://schemas.openxmlformats.org/drawingml/2006/table">
            <a:tbl>
              <a:tblPr firstRow="1" bandRow="1">
                <a:tableStyleId>{5C22544A-7EE6-4342-B048-85BDC9FD1C3A}</a:tableStyleId>
              </a:tblPr>
              <a:tblGrid>
                <a:gridCol w="1207846">
                  <a:extLst>
                    <a:ext uri="{9D8B030D-6E8A-4147-A177-3AD203B41FA5}">
                      <a16:colId xmlns:a16="http://schemas.microsoft.com/office/drawing/2014/main" val="20000"/>
                    </a:ext>
                  </a:extLst>
                </a:gridCol>
                <a:gridCol w="5431044">
                  <a:extLst>
                    <a:ext uri="{9D8B030D-6E8A-4147-A177-3AD203B41FA5}">
                      <a16:colId xmlns:a16="http://schemas.microsoft.com/office/drawing/2014/main" val="20001"/>
                    </a:ext>
                  </a:extLst>
                </a:gridCol>
                <a:gridCol w="1891895">
                  <a:extLst>
                    <a:ext uri="{9D8B030D-6E8A-4147-A177-3AD203B41FA5}">
                      <a16:colId xmlns:a16="http://schemas.microsoft.com/office/drawing/2014/main" val="20002"/>
                    </a:ext>
                  </a:extLst>
                </a:gridCol>
                <a:gridCol w="2088639">
                  <a:extLst>
                    <a:ext uri="{9D8B030D-6E8A-4147-A177-3AD203B41FA5}">
                      <a16:colId xmlns:a16="http://schemas.microsoft.com/office/drawing/2014/main" val="20003"/>
                    </a:ext>
                  </a:extLst>
                </a:gridCol>
              </a:tblGrid>
              <a:tr h="457200">
                <a:tc>
                  <a:txBody>
                    <a:bodyPr/>
                    <a:lstStyle/>
                    <a:p>
                      <a:pPr algn="ctr"/>
                      <a:r>
                        <a:rPr lang="en-US" sz="2400">
                          <a:solidFill>
                            <a:sysClr val="windowText" lastClr="000000"/>
                          </a:solidFill>
                          <a:latin typeface="Cambria" panose="02040503050406030204" pitchFamily="18" charset="0"/>
                          <a:ea typeface="Cambria" panose="02040503050406030204" pitchFamily="18" charset="0"/>
                        </a:rPr>
                        <a:t>STT</a:t>
                      </a:r>
                      <a:endParaRPr lang="en-US" sz="2400" dirty="0">
                        <a:solidFill>
                          <a:sysClr val="windowText" lastClr="000000"/>
                        </a:solidFill>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2400">
                          <a:solidFill>
                            <a:sysClr val="windowText" lastClr="000000"/>
                          </a:solidFill>
                          <a:latin typeface="Cambria" panose="02040503050406030204" pitchFamily="18" charset="0"/>
                          <a:ea typeface="Cambria" panose="02040503050406030204" pitchFamily="18" charset="0"/>
                        </a:rPr>
                        <a:t>Nội</a:t>
                      </a:r>
                      <a:r>
                        <a:rPr lang="en-US" sz="2400" baseline="0">
                          <a:solidFill>
                            <a:sysClr val="windowText" lastClr="000000"/>
                          </a:solidFill>
                          <a:latin typeface="Cambria" panose="02040503050406030204" pitchFamily="18" charset="0"/>
                          <a:ea typeface="Cambria" panose="02040503050406030204" pitchFamily="18" charset="0"/>
                        </a:rPr>
                        <a:t> dung</a:t>
                      </a:r>
                      <a:endParaRPr lang="en-US" sz="2400" dirty="0">
                        <a:solidFill>
                          <a:sysClr val="windowText" lastClr="000000"/>
                        </a:solidFill>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2400">
                          <a:solidFill>
                            <a:sysClr val="windowText" lastClr="000000"/>
                          </a:solidFill>
                          <a:latin typeface="Cambria" panose="02040503050406030204" pitchFamily="18" charset="0"/>
                          <a:ea typeface="Cambria" panose="02040503050406030204" pitchFamily="18" charset="0"/>
                        </a:rPr>
                        <a:t>Lý</a:t>
                      </a:r>
                      <a:r>
                        <a:rPr lang="en-US" sz="2400" baseline="0">
                          <a:solidFill>
                            <a:sysClr val="windowText" lastClr="000000"/>
                          </a:solidFill>
                          <a:latin typeface="Cambria" panose="02040503050406030204" pitchFamily="18" charset="0"/>
                          <a:ea typeface="Cambria" panose="02040503050406030204" pitchFamily="18" charset="0"/>
                        </a:rPr>
                        <a:t> thuyết</a:t>
                      </a:r>
                      <a:endParaRPr lang="en-US" sz="2400" dirty="0">
                        <a:solidFill>
                          <a:sysClr val="windowText" lastClr="000000"/>
                        </a:solidFill>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2400">
                          <a:solidFill>
                            <a:sysClr val="windowText" lastClr="000000"/>
                          </a:solidFill>
                          <a:latin typeface="Cambria" panose="02040503050406030204" pitchFamily="18" charset="0"/>
                          <a:ea typeface="Cambria" panose="02040503050406030204" pitchFamily="18" charset="0"/>
                        </a:rPr>
                        <a:t>Thực hành</a:t>
                      </a:r>
                      <a:endParaRPr lang="en-US" sz="2400" dirty="0">
                        <a:solidFill>
                          <a:sysClr val="windowText" lastClr="000000"/>
                        </a:solidFill>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0000"/>
                  </a:ext>
                </a:extLst>
              </a:tr>
              <a:tr h="457200">
                <a:tc>
                  <a:txBody>
                    <a:bodyPr/>
                    <a:lstStyle/>
                    <a:p>
                      <a:r>
                        <a:rPr lang="en-US" sz="2400" b="1" dirty="0">
                          <a:solidFill>
                            <a:sysClr val="windowText" lastClr="000000"/>
                          </a:solidFill>
                          <a:latin typeface="Cambria" panose="02040503050406030204" pitchFamily="18" charset="0"/>
                          <a:ea typeface="Cambria" panose="020405030504060302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400" b="1" kern="1200">
                          <a:solidFill>
                            <a:schemeClr val="dk1"/>
                          </a:solidFill>
                          <a:effectLst/>
                          <a:latin typeface="Cambria" panose="02040503050406030204" pitchFamily="18" charset="0"/>
                          <a:ea typeface="Cambria" panose="02040503050406030204" pitchFamily="18" charset="0"/>
                          <a:cs typeface="+mn-cs"/>
                        </a:rPr>
                        <a:t>Giới thiệu về lập trình Python và các công cụ lập trình</a:t>
                      </a:r>
                      <a:endParaRPr lang="en-US" sz="2400" dirty="0">
                        <a:solidFill>
                          <a:sysClr val="windowText" lastClr="000000"/>
                        </a:solidFill>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a:solidFill>
                            <a:sysClr val="windowText" lastClr="000000"/>
                          </a:solidFill>
                          <a:latin typeface="Cambria" panose="02040503050406030204" pitchFamily="18" charset="0"/>
                          <a:ea typeface="Cambria" panose="02040503050406030204" pitchFamily="18" charset="0"/>
                        </a:rPr>
                        <a:t>3</a:t>
                      </a:r>
                      <a:endParaRPr lang="en-US" sz="2400" dirty="0">
                        <a:solidFill>
                          <a:sysClr val="windowText" lastClr="000000"/>
                        </a:solidFill>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a:solidFill>
                            <a:sysClr val="windowText" lastClr="000000"/>
                          </a:solidFill>
                          <a:latin typeface="Cambria" panose="02040503050406030204" pitchFamily="18" charset="0"/>
                          <a:ea typeface="Cambria" panose="02040503050406030204" pitchFamily="18" charset="0"/>
                        </a:rPr>
                        <a:t>3</a:t>
                      </a:r>
                      <a:endParaRPr lang="en-US" sz="2400" dirty="0">
                        <a:solidFill>
                          <a:sysClr val="windowText" lastClr="000000"/>
                        </a:solidFill>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57200">
                <a:tc>
                  <a:txBody>
                    <a:bodyPr/>
                    <a:lstStyle/>
                    <a:p>
                      <a:r>
                        <a:rPr lang="en-US" sz="2400" b="1" dirty="0">
                          <a:solidFill>
                            <a:sysClr val="windowText" lastClr="000000"/>
                          </a:solidFill>
                          <a:latin typeface="Cambria" panose="02040503050406030204" pitchFamily="18" charset="0"/>
                          <a:ea typeface="Cambria" panose="020405030504060302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b="1" kern="1200">
                          <a:solidFill>
                            <a:schemeClr val="dk1"/>
                          </a:solidFill>
                          <a:effectLst/>
                          <a:latin typeface="Cambria" panose="02040503050406030204" pitchFamily="18" charset="0"/>
                          <a:ea typeface="Cambria" panose="02040503050406030204" pitchFamily="18" charset="0"/>
                          <a:cs typeface="+mn-cs"/>
                        </a:rPr>
                        <a:t>Các khái niệm cơ bản</a:t>
                      </a:r>
                      <a:endParaRPr lang="en-US" sz="2400" dirty="0">
                        <a:solidFill>
                          <a:sysClr val="windowText" lastClr="000000"/>
                        </a:solidFill>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a:solidFill>
                            <a:sysClr val="windowText" lastClr="000000"/>
                          </a:solidFill>
                          <a:latin typeface="Cambria" panose="02040503050406030204" pitchFamily="18" charset="0"/>
                          <a:ea typeface="Cambria" panose="02040503050406030204" pitchFamily="18" charset="0"/>
                        </a:rPr>
                        <a:t>3</a:t>
                      </a:r>
                      <a:endParaRPr lang="en-US" sz="2400" dirty="0">
                        <a:solidFill>
                          <a:sysClr val="windowText" lastClr="000000"/>
                        </a:solidFill>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a:solidFill>
                            <a:sysClr val="windowText" lastClr="000000"/>
                          </a:solidFill>
                          <a:latin typeface="Cambria" panose="02040503050406030204" pitchFamily="18" charset="0"/>
                          <a:ea typeface="Cambria" panose="02040503050406030204" pitchFamily="18" charset="0"/>
                        </a:rPr>
                        <a:t>3</a:t>
                      </a:r>
                      <a:endParaRPr lang="en-US" sz="2400" dirty="0">
                        <a:solidFill>
                          <a:sysClr val="windowText" lastClr="000000"/>
                        </a:solidFill>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457200">
                <a:tc>
                  <a:txBody>
                    <a:bodyPr/>
                    <a:lstStyle/>
                    <a:p>
                      <a:r>
                        <a:rPr lang="en-US" sz="2400" b="1" dirty="0">
                          <a:solidFill>
                            <a:sysClr val="windowText" lastClr="000000"/>
                          </a:solidFill>
                          <a:latin typeface="Cambria" panose="02040503050406030204" pitchFamily="18" charset="0"/>
                          <a:ea typeface="Cambria" panose="020405030504060302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400" b="1" kern="1200">
                          <a:solidFill>
                            <a:schemeClr val="dk1"/>
                          </a:solidFill>
                          <a:effectLst/>
                          <a:latin typeface="Cambria" panose="02040503050406030204" pitchFamily="18" charset="0"/>
                          <a:ea typeface="Cambria" panose="02040503050406030204" pitchFamily="18" charset="0"/>
                          <a:cs typeface="+mn-cs"/>
                        </a:rPr>
                        <a:t>Các biểu thức điều kiện và vòng lặp</a:t>
                      </a:r>
                      <a:endParaRPr lang="en-US" sz="2400" dirty="0">
                        <a:solidFill>
                          <a:sysClr val="windowText" lastClr="000000"/>
                        </a:solidFill>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a:solidFill>
                            <a:sysClr val="windowText" lastClr="000000"/>
                          </a:solidFill>
                          <a:latin typeface="Cambria" panose="02040503050406030204" pitchFamily="18" charset="0"/>
                          <a:ea typeface="Cambria" panose="02040503050406030204" pitchFamily="18" charset="0"/>
                        </a:rPr>
                        <a:t>6</a:t>
                      </a:r>
                      <a:endParaRPr lang="en-US" sz="2400" dirty="0">
                        <a:solidFill>
                          <a:sysClr val="windowText" lastClr="000000"/>
                        </a:solidFill>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a:solidFill>
                            <a:sysClr val="windowText" lastClr="000000"/>
                          </a:solidFill>
                          <a:latin typeface="Cambria" panose="02040503050406030204" pitchFamily="18" charset="0"/>
                          <a:ea typeface="Cambria" panose="02040503050406030204" pitchFamily="18" charset="0"/>
                        </a:rPr>
                        <a:t>6</a:t>
                      </a:r>
                      <a:endParaRPr lang="en-US" sz="2400" dirty="0">
                        <a:solidFill>
                          <a:sysClr val="windowText" lastClr="000000"/>
                        </a:solidFill>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457200">
                <a:tc>
                  <a:txBody>
                    <a:bodyPr/>
                    <a:lstStyle/>
                    <a:p>
                      <a:r>
                        <a:rPr lang="en-US" sz="2400" b="1" dirty="0">
                          <a:solidFill>
                            <a:sysClr val="windowText" lastClr="000000"/>
                          </a:solidFill>
                          <a:latin typeface="Cambria" panose="02040503050406030204" pitchFamily="18" charset="0"/>
                          <a:ea typeface="Cambria" panose="02040503050406030204" pitchFamily="18"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b="1" kern="1200">
                          <a:solidFill>
                            <a:schemeClr val="dk1"/>
                          </a:solidFill>
                          <a:effectLst/>
                          <a:latin typeface="Cambria" panose="02040503050406030204" pitchFamily="18" charset="0"/>
                          <a:ea typeface="Cambria" panose="02040503050406030204" pitchFamily="18" charset="0"/>
                          <a:cs typeface="+mn-cs"/>
                        </a:rPr>
                        <a:t>Hàm trong Python</a:t>
                      </a:r>
                      <a:endParaRPr lang="en-US" sz="2400" dirty="0">
                        <a:solidFill>
                          <a:sysClr val="windowText" lastClr="000000"/>
                        </a:solidFill>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a:solidFill>
                            <a:sysClr val="windowText" lastClr="000000"/>
                          </a:solidFill>
                          <a:latin typeface="Cambria" panose="02040503050406030204" pitchFamily="18" charset="0"/>
                          <a:ea typeface="Cambria" panose="02040503050406030204" pitchFamily="18" charset="0"/>
                        </a:rPr>
                        <a:t>6</a:t>
                      </a:r>
                      <a:endParaRPr lang="en-US" sz="2400" dirty="0">
                        <a:solidFill>
                          <a:sysClr val="windowText" lastClr="000000"/>
                        </a:solidFill>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a:solidFill>
                            <a:sysClr val="windowText" lastClr="000000"/>
                          </a:solidFill>
                          <a:latin typeface="Cambria" panose="02040503050406030204" pitchFamily="18" charset="0"/>
                          <a:ea typeface="Cambria" panose="02040503050406030204" pitchFamily="18" charset="0"/>
                        </a:rPr>
                        <a:t>6</a:t>
                      </a:r>
                      <a:endParaRPr lang="en-US" sz="2400" dirty="0">
                        <a:solidFill>
                          <a:sysClr val="windowText" lastClr="000000"/>
                        </a:solidFill>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457200">
                <a:tc>
                  <a:txBody>
                    <a:bodyPr/>
                    <a:lstStyle/>
                    <a:p>
                      <a:r>
                        <a:rPr lang="en-US" sz="2400" b="1" dirty="0">
                          <a:solidFill>
                            <a:sysClr val="windowText" lastClr="000000"/>
                          </a:solidFill>
                          <a:latin typeface="Cambria" panose="02040503050406030204" pitchFamily="18" charset="0"/>
                          <a:ea typeface="Cambria" panose="02040503050406030204" pitchFamily="18"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400" b="1" kern="1200">
                          <a:solidFill>
                            <a:schemeClr val="dk1"/>
                          </a:solidFill>
                          <a:effectLst/>
                          <a:latin typeface="Cambria" panose="02040503050406030204" pitchFamily="18" charset="0"/>
                          <a:ea typeface="Cambria" panose="02040503050406030204" pitchFamily="18" charset="0"/>
                          <a:cs typeface="+mn-cs"/>
                        </a:rPr>
                        <a:t>Xử lý chuỗi</a:t>
                      </a:r>
                      <a:endParaRPr lang="en-US" sz="2400" dirty="0">
                        <a:solidFill>
                          <a:sysClr val="windowText" lastClr="000000"/>
                        </a:solidFill>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a:solidFill>
                            <a:sysClr val="windowText" lastClr="000000"/>
                          </a:solidFill>
                          <a:latin typeface="Cambria" panose="02040503050406030204" pitchFamily="18" charset="0"/>
                          <a:ea typeface="Cambria" panose="02040503050406030204" pitchFamily="18" charset="0"/>
                        </a:rPr>
                        <a:t>3</a:t>
                      </a:r>
                      <a:endParaRPr lang="en-US" sz="2400" dirty="0">
                        <a:solidFill>
                          <a:sysClr val="windowText" lastClr="000000"/>
                        </a:solidFill>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a:solidFill>
                            <a:sysClr val="windowText" lastClr="000000"/>
                          </a:solidFill>
                          <a:latin typeface="Cambria" panose="02040503050406030204" pitchFamily="18" charset="0"/>
                          <a:ea typeface="Cambria" panose="02040503050406030204" pitchFamily="18" charset="0"/>
                        </a:rPr>
                        <a:t>3</a:t>
                      </a:r>
                      <a:endParaRPr lang="en-US" sz="2400" dirty="0">
                        <a:solidFill>
                          <a:sysClr val="windowText" lastClr="000000"/>
                        </a:solidFill>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457200">
                <a:tc>
                  <a:txBody>
                    <a:bodyPr/>
                    <a:lstStyle/>
                    <a:p>
                      <a:r>
                        <a:rPr lang="en-US" sz="2400" b="1">
                          <a:solidFill>
                            <a:sysClr val="windowText" lastClr="000000"/>
                          </a:solidFill>
                          <a:latin typeface="Cambria" panose="02040503050406030204" pitchFamily="18" charset="0"/>
                          <a:ea typeface="Cambria" panose="02040503050406030204" pitchFamily="18" charset="0"/>
                        </a:rPr>
                        <a:t>6</a:t>
                      </a:r>
                      <a:endParaRPr lang="en-US" sz="2400" b="1" dirty="0">
                        <a:solidFill>
                          <a:sysClr val="windowText" lastClr="000000"/>
                        </a:solidFill>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kern="1200">
                          <a:solidFill>
                            <a:schemeClr val="dk1"/>
                          </a:solidFill>
                          <a:effectLst/>
                          <a:latin typeface="Cambria" panose="02040503050406030204" pitchFamily="18" charset="0"/>
                          <a:ea typeface="Cambria" panose="02040503050406030204" pitchFamily="18" charset="0"/>
                          <a:cs typeface="+mn-cs"/>
                        </a:rPr>
                        <a:t>Xử lý danh sách</a:t>
                      </a:r>
                      <a:endParaRPr lang="en-US" sz="2400" dirty="0">
                        <a:solidFill>
                          <a:sysClr val="windowText" lastClr="000000"/>
                        </a:solidFill>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a:solidFill>
                            <a:sysClr val="windowText" lastClr="000000"/>
                          </a:solidFill>
                          <a:latin typeface="Cambria" panose="02040503050406030204" pitchFamily="18" charset="0"/>
                          <a:ea typeface="Cambria" panose="02040503050406030204" pitchFamily="18" charset="0"/>
                        </a:rPr>
                        <a:t>3</a:t>
                      </a:r>
                      <a:endParaRPr lang="en-US" sz="2400" dirty="0">
                        <a:solidFill>
                          <a:sysClr val="windowText" lastClr="000000"/>
                        </a:solidFill>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a:solidFill>
                            <a:sysClr val="windowText" lastClr="000000"/>
                          </a:solidFill>
                          <a:latin typeface="Cambria" panose="02040503050406030204" pitchFamily="18" charset="0"/>
                          <a:ea typeface="Cambria" panose="02040503050406030204" pitchFamily="18" charset="0"/>
                        </a:rPr>
                        <a:t>3</a:t>
                      </a:r>
                      <a:endParaRPr lang="en-US" sz="2400" dirty="0">
                        <a:solidFill>
                          <a:sysClr val="windowText" lastClr="000000"/>
                        </a:solidFill>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36359021"/>
                  </a:ext>
                </a:extLst>
              </a:tr>
              <a:tr h="457200">
                <a:tc>
                  <a:txBody>
                    <a:bodyPr/>
                    <a:lstStyle/>
                    <a:p>
                      <a:r>
                        <a:rPr lang="en-US" sz="2400" b="1">
                          <a:solidFill>
                            <a:sysClr val="windowText" lastClr="000000"/>
                          </a:solidFill>
                          <a:latin typeface="Cambria" panose="02040503050406030204" pitchFamily="18" charset="0"/>
                          <a:ea typeface="Cambria" panose="02040503050406030204" pitchFamily="18" charset="0"/>
                        </a:rPr>
                        <a:t>7</a:t>
                      </a:r>
                      <a:endParaRPr lang="en-US" sz="2400" b="1" dirty="0">
                        <a:solidFill>
                          <a:sysClr val="windowText" lastClr="000000"/>
                        </a:solidFill>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400" b="1" kern="1200">
                          <a:solidFill>
                            <a:schemeClr val="dk1"/>
                          </a:solidFill>
                          <a:effectLst/>
                          <a:latin typeface="Cambria" panose="02040503050406030204" pitchFamily="18" charset="0"/>
                          <a:ea typeface="Cambria" panose="02040503050406030204" pitchFamily="18" charset="0"/>
                          <a:cs typeface="+mn-cs"/>
                        </a:rPr>
                        <a:t>Xử lý tập tin</a:t>
                      </a:r>
                      <a:endParaRPr lang="en-US" sz="2400" b="1" dirty="0">
                        <a:solidFill>
                          <a:sysClr val="windowText" lastClr="000000"/>
                        </a:solidFill>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a:solidFill>
                            <a:sysClr val="windowText" lastClr="000000"/>
                          </a:solidFill>
                          <a:latin typeface="Cambria" panose="02040503050406030204" pitchFamily="18" charset="0"/>
                          <a:ea typeface="Cambria" panose="02040503050406030204" pitchFamily="18" charset="0"/>
                        </a:rPr>
                        <a:t>3</a:t>
                      </a:r>
                      <a:endParaRPr lang="en-US" sz="2400" dirty="0">
                        <a:solidFill>
                          <a:sysClr val="windowText" lastClr="000000"/>
                        </a:solidFill>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a:solidFill>
                            <a:sysClr val="windowText" lastClr="000000"/>
                          </a:solidFill>
                          <a:latin typeface="Cambria" panose="02040503050406030204" pitchFamily="18" charset="0"/>
                          <a:ea typeface="Cambria" panose="02040503050406030204" pitchFamily="18" charset="0"/>
                        </a:rPr>
                        <a:t>3</a:t>
                      </a:r>
                      <a:endParaRPr lang="en-US" sz="2400" dirty="0">
                        <a:solidFill>
                          <a:sysClr val="windowText" lastClr="000000"/>
                        </a:solidFill>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53838534"/>
                  </a:ext>
                </a:extLst>
              </a:tr>
              <a:tr h="457200">
                <a:tc>
                  <a:txBody>
                    <a:bodyPr/>
                    <a:lstStyle/>
                    <a:p>
                      <a:r>
                        <a:rPr lang="en-US" sz="2400" b="1">
                          <a:solidFill>
                            <a:sysClr val="windowText" lastClr="000000"/>
                          </a:solidFill>
                          <a:latin typeface="Cambria" panose="02040503050406030204" pitchFamily="18" charset="0"/>
                          <a:ea typeface="Cambria" panose="02040503050406030204" pitchFamily="18" charset="0"/>
                        </a:rPr>
                        <a:t>8</a:t>
                      </a:r>
                      <a:endParaRPr lang="en-US" sz="2400" b="1" dirty="0">
                        <a:solidFill>
                          <a:sysClr val="windowText" lastClr="000000"/>
                        </a:solidFill>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400" b="1" kern="1200">
                          <a:solidFill>
                            <a:schemeClr val="dk1"/>
                          </a:solidFill>
                          <a:effectLst/>
                          <a:latin typeface="Cambria" panose="02040503050406030204" pitchFamily="18" charset="0"/>
                          <a:ea typeface="Cambria" panose="02040503050406030204" pitchFamily="18" charset="0"/>
                          <a:cs typeface="+mn-cs"/>
                        </a:rPr>
                        <a:t>Thiết kế giao diện với tkinter</a:t>
                      </a:r>
                      <a:endParaRPr lang="en-US" sz="2400" b="1" dirty="0">
                        <a:solidFill>
                          <a:sysClr val="windowText" lastClr="000000"/>
                        </a:solidFill>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a:solidFill>
                            <a:sysClr val="windowText" lastClr="000000"/>
                          </a:solidFill>
                          <a:latin typeface="Cambria" panose="02040503050406030204" pitchFamily="18" charset="0"/>
                          <a:ea typeface="Cambria" panose="02040503050406030204" pitchFamily="18" charset="0"/>
                        </a:rPr>
                        <a:t>3</a:t>
                      </a:r>
                      <a:endParaRPr lang="en-US" sz="2400" dirty="0">
                        <a:solidFill>
                          <a:sysClr val="windowText" lastClr="000000"/>
                        </a:solidFill>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a:solidFill>
                            <a:sysClr val="windowText" lastClr="000000"/>
                          </a:solidFill>
                          <a:latin typeface="Cambria" panose="02040503050406030204" pitchFamily="18" charset="0"/>
                          <a:ea typeface="Cambria" panose="02040503050406030204" pitchFamily="18" charset="0"/>
                        </a:rPr>
                        <a:t>3</a:t>
                      </a:r>
                      <a:endParaRPr lang="en-US" sz="2400" dirty="0">
                        <a:solidFill>
                          <a:sysClr val="windowText" lastClr="000000"/>
                        </a:solidFill>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05820249"/>
                  </a:ext>
                </a:extLst>
              </a:tr>
              <a:tr h="457200">
                <a:tc gridSpan="2">
                  <a:txBody>
                    <a:bodyPr/>
                    <a:lstStyle/>
                    <a:p>
                      <a:r>
                        <a:rPr lang="en-US" sz="2400" b="1">
                          <a:solidFill>
                            <a:sysClr val="windowText" lastClr="000000"/>
                          </a:solidFill>
                          <a:latin typeface="Cambria" panose="02040503050406030204" pitchFamily="18" charset="0"/>
                          <a:ea typeface="Cambria" panose="02040503050406030204" pitchFamily="18" charset="0"/>
                        </a:rPr>
                        <a:t>Tổng</a:t>
                      </a:r>
                      <a:r>
                        <a:rPr lang="en-US" sz="2400" b="1" baseline="0">
                          <a:solidFill>
                            <a:sysClr val="windowText" lastClr="000000"/>
                          </a:solidFill>
                          <a:latin typeface="Cambria" panose="02040503050406030204" pitchFamily="18" charset="0"/>
                          <a:ea typeface="Cambria" panose="02040503050406030204" pitchFamily="18" charset="0"/>
                        </a:rPr>
                        <a:t> cộng</a:t>
                      </a:r>
                      <a:endParaRPr lang="en-US" sz="2400" b="1" dirty="0">
                        <a:solidFill>
                          <a:sysClr val="windowText" lastClr="000000"/>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hMerge="1">
                  <a:txBody>
                    <a:bodyPr/>
                    <a:lstStyle/>
                    <a:p>
                      <a:endParaRPr 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b="1">
                          <a:solidFill>
                            <a:sysClr val="windowText" lastClr="000000"/>
                          </a:solidFill>
                          <a:latin typeface="Cambria" panose="02040503050406030204" pitchFamily="18" charset="0"/>
                          <a:ea typeface="Cambria" panose="02040503050406030204" pitchFamily="18" charset="0"/>
                        </a:rPr>
                        <a:t>30</a:t>
                      </a:r>
                      <a:endParaRPr lang="en-US" sz="2400" b="1" dirty="0">
                        <a:solidFill>
                          <a:sysClr val="windowText" lastClr="000000"/>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2400" b="1">
                          <a:solidFill>
                            <a:sysClr val="windowText" lastClr="000000"/>
                          </a:solidFill>
                          <a:latin typeface="Cambria" panose="02040503050406030204" pitchFamily="18" charset="0"/>
                          <a:ea typeface="Cambria" panose="02040503050406030204" pitchFamily="18" charset="0"/>
                        </a:rPr>
                        <a:t>30</a:t>
                      </a:r>
                      <a:endParaRPr lang="en-US" sz="2400" b="1" dirty="0">
                        <a:solidFill>
                          <a:sysClr val="windowText" lastClr="000000"/>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4949932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152400"/>
            <a:ext cx="4620576" cy="5588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Đánh giá môn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4</a:t>
            </a:fld>
            <a:endParaRPr lang="en-US"/>
          </a:p>
        </p:txBody>
      </p:sp>
      <p:sp>
        <p:nvSpPr>
          <p:cNvPr id="11" name="Content Placeholder 2"/>
          <p:cNvSpPr txBox="1">
            <a:spLocks/>
          </p:cNvSpPr>
          <p:nvPr/>
        </p:nvSpPr>
        <p:spPr>
          <a:xfrm>
            <a:off x="457200" y="780097"/>
            <a:ext cx="11353800" cy="5773103"/>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anose="05000000000000000000" pitchFamily="2" charset="2"/>
              <a:buChar char="ü"/>
            </a:pPr>
            <a:r>
              <a:rPr lang="en-US" sz="2400" b="1">
                <a:latin typeface="Cambria" panose="02040503050406030204" pitchFamily="18" charset="0"/>
              </a:rPr>
              <a:t>Điểm cuối kỳ</a:t>
            </a:r>
            <a:r>
              <a:rPr lang="en-US" sz="2400">
                <a:latin typeface="Cambria" panose="02040503050406030204" pitchFamily="18" charset="0"/>
              </a:rPr>
              <a:t>: </a:t>
            </a:r>
            <a:r>
              <a:rPr lang="en-US" sz="2400">
                <a:solidFill>
                  <a:srgbClr val="FF0000"/>
                </a:solidFill>
                <a:latin typeface="Cambria" panose="02040503050406030204" pitchFamily="18" charset="0"/>
              </a:rPr>
              <a:t>50%</a:t>
            </a:r>
            <a:r>
              <a:rPr lang="en-US" sz="2400">
                <a:latin typeface="Cambria" panose="02040503050406030204" pitchFamily="18" charset="0"/>
              </a:rPr>
              <a:t> (thực hành trên phòng Lab)</a:t>
            </a:r>
          </a:p>
          <a:p>
            <a:pPr>
              <a:buFont typeface="Wingdings" panose="05000000000000000000" pitchFamily="2" charset="2"/>
              <a:buChar char="ü"/>
            </a:pPr>
            <a:r>
              <a:rPr lang="en-US" sz="2400" b="1">
                <a:latin typeface="Cambria" panose="02040503050406030204" pitchFamily="18" charset="0"/>
              </a:rPr>
              <a:t>Điểm giữa kỳ: </a:t>
            </a:r>
            <a:r>
              <a:rPr lang="en-US" sz="2400">
                <a:solidFill>
                  <a:srgbClr val="FF0000"/>
                </a:solidFill>
                <a:latin typeface="Cambria" panose="02040503050406030204" pitchFamily="18" charset="0"/>
              </a:rPr>
              <a:t>20% </a:t>
            </a:r>
            <a:r>
              <a:rPr lang="en-US" sz="2400">
                <a:latin typeface="Cambria" panose="02040503050406030204" pitchFamily="18" charset="0"/>
              </a:rPr>
              <a:t>(thực hành trên phòng Lab)</a:t>
            </a:r>
          </a:p>
          <a:p>
            <a:pPr>
              <a:buFont typeface="Wingdings" panose="05000000000000000000" pitchFamily="2" charset="2"/>
              <a:buChar char="ü"/>
            </a:pPr>
            <a:r>
              <a:rPr lang="en-US" sz="2400" b="1">
                <a:latin typeface="Cambria" panose="02040503050406030204" pitchFamily="18" charset="0"/>
              </a:rPr>
              <a:t>Điểm quá trình: </a:t>
            </a:r>
            <a:r>
              <a:rPr lang="en-US" sz="2400">
                <a:solidFill>
                  <a:srgbClr val="FF0000"/>
                </a:solidFill>
                <a:latin typeface="Cambria" panose="02040503050406030204" pitchFamily="18" charset="0"/>
              </a:rPr>
              <a:t>30%</a:t>
            </a:r>
          </a:p>
          <a:p>
            <a:pPr lvl="1"/>
            <a:r>
              <a:rPr lang="en-US" sz="2400">
                <a:latin typeface="Cambria" panose="02040503050406030204" pitchFamily="18" charset="0"/>
              </a:rPr>
              <a:t>Thảo luận nhóm trên lớp (các kiến thức trong môn học, kiến thức nâng cao, mỗi nhóm tối đa 5 Sinh Viên) </a:t>
            </a:r>
          </a:p>
          <a:p>
            <a:pPr lvl="1"/>
            <a:r>
              <a:rPr lang="en-US" sz="2400">
                <a:latin typeface="Cambria" panose="02040503050406030204" pitchFamily="18" charset="0"/>
              </a:rPr>
              <a:t>Theory Report (theo mẫu): Báo cáo các lý thuyết được học Blended Learning</a:t>
            </a:r>
          </a:p>
          <a:p>
            <a:pPr lvl="1"/>
            <a:r>
              <a:rPr lang="en-US" sz="2400">
                <a:latin typeface="Cambria" panose="02040503050406030204" pitchFamily="18" charset="0"/>
              </a:rPr>
              <a:t>Lab Report (theo mẫu) : Báo cáo các bài thực hành được học Blended Learning</a:t>
            </a:r>
          </a:p>
          <a:p>
            <a:pPr>
              <a:buFont typeface="Wingdings" panose="05000000000000000000" pitchFamily="2" charset="2"/>
              <a:buChar char="ü"/>
            </a:pPr>
            <a:r>
              <a:rPr lang="en-US" sz="2400" b="1">
                <a:latin typeface="Cambria" panose="02040503050406030204" pitchFamily="18" charset="0"/>
              </a:rPr>
              <a:t>Điểm cộng: </a:t>
            </a:r>
            <a:r>
              <a:rPr lang="en-US" sz="2400">
                <a:latin typeface="Cambria" panose="02040503050406030204" pitchFamily="18" charset="0"/>
              </a:rPr>
              <a:t>Cộng vào điểm quá trình, tùy thuộc vào nội dung bài học mà Sinh Viên giải quyết được</a:t>
            </a:r>
          </a:p>
        </p:txBody>
      </p:sp>
    </p:spTree>
    <p:extLst>
      <p:ext uri="{BB962C8B-B14F-4D97-AF65-F5344CB8AC3E}">
        <p14:creationId xmlns:p14="http://schemas.microsoft.com/office/powerpoint/2010/main" val="10437686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1524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Đánh giá môn học</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5</a:t>
            </a:fld>
            <a:endParaRPr lang="en-US"/>
          </a:p>
        </p:txBody>
      </p:sp>
      <p:sp>
        <p:nvSpPr>
          <p:cNvPr id="11" name="Content Placeholder 2"/>
          <p:cNvSpPr txBox="1">
            <a:spLocks/>
          </p:cNvSpPr>
          <p:nvPr/>
        </p:nvSpPr>
        <p:spPr>
          <a:xfrm>
            <a:off x="457200" y="746125"/>
            <a:ext cx="113538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anose="05000000000000000000" pitchFamily="2" charset="2"/>
              <a:buChar char="ü"/>
            </a:pPr>
            <a:r>
              <a:rPr lang="en-US" sz="2800">
                <a:latin typeface="Cambria" panose="02040503050406030204" pitchFamily="18" charset="0"/>
              </a:rPr>
              <a:t>Các bài tập, thảo luận, đồ án, bài thi… đều phải nộp trên </a:t>
            </a:r>
            <a:r>
              <a:rPr lang="en-US" sz="2800">
                <a:latin typeface="Cambria" panose="02040503050406030204" pitchFamily="18" charset="0"/>
                <a:hlinkClick r:id="rId2"/>
              </a:rPr>
              <a:t>http://elearning.uel.edu.vn</a:t>
            </a:r>
            <a:endParaRPr lang="en-US" sz="2800">
              <a:latin typeface="Cambria" panose="02040503050406030204" pitchFamily="18" charset="0"/>
            </a:endParaRPr>
          </a:p>
          <a:p>
            <a:pPr>
              <a:buFont typeface="Wingdings" panose="05000000000000000000" pitchFamily="2" charset="2"/>
              <a:buChar char="ü"/>
            </a:pPr>
            <a:r>
              <a:rPr lang="en-US" sz="2800">
                <a:latin typeface="Cambria" panose="02040503050406030204" pitchFamily="18" charset="0"/>
              </a:rPr>
              <a:t>Vắng học quá 3 buổi : Cấm Thi</a:t>
            </a:r>
          </a:p>
          <a:p>
            <a:pPr>
              <a:buFont typeface="Wingdings" panose="05000000000000000000" pitchFamily="2" charset="2"/>
              <a:buChar char="ü"/>
            </a:pPr>
            <a:r>
              <a:rPr lang="en-US" sz="2800">
                <a:latin typeface="Cambria" panose="02040503050406030204" pitchFamily="18" charset="0"/>
              </a:rPr>
              <a:t>Không nộp các bài theo yêu cầu trên Elearning quá  3 lần: Cấm Thi</a:t>
            </a:r>
          </a:p>
          <a:p>
            <a:pPr>
              <a:buFont typeface="Wingdings" panose="05000000000000000000" pitchFamily="2" charset="2"/>
              <a:buChar char="ü"/>
            </a:pPr>
            <a:r>
              <a:rPr lang="en-US" sz="2800">
                <a:latin typeface="Cambria" panose="02040503050406030204" pitchFamily="18" charset="0"/>
              </a:rPr>
              <a:t>Nghiên cứu bài giảng trước khi lên lớp</a:t>
            </a:r>
          </a:p>
        </p:txBody>
      </p:sp>
    </p:spTree>
    <p:extLst>
      <p:ext uri="{BB962C8B-B14F-4D97-AF65-F5344CB8AC3E}">
        <p14:creationId xmlns:p14="http://schemas.microsoft.com/office/powerpoint/2010/main" val="27557945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1524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Công cụ sử dụng</a:t>
              </a:r>
              <a:endParaRPr lang="en-US" sz="28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6</a:t>
            </a:fld>
            <a:endParaRPr lang="en-US"/>
          </a:p>
        </p:txBody>
      </p:sp>
      <p:sp>
        <p:nvSpPr>
          <p:cNvPr id="11" name="Content Placeholder 2"/>
          <p:cNvSpPr txBox="1">
            <a:spLocks/>
          </p:cNvSpPr>
          <p:nvPr/>
        </p:nvSpPr>
        <p:spPr>
          <a:xfrm>
            <a:off x="457200" y="746125"/>
            <a:ext cx="113538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anose="05000000000000000000" pitchFamily="2" charset="2"/>
              <a:buChar char="v"/>
            </a:pPr>
            <a:r>
              <a:rPr lang="en-US" sz="2800" dirty="0" err="1">
                <a:latin typeface="Cambria" panose="02040503050406030204" pitchFamily="18" charset="0"/>
              </a:rPr>
              <a:t>Công</a:t>
            </a:r>
            <a:r>
              <a:rPr lang="en-US" sz="2800" dirty="0">
                <a:latin typeface="Cambria" panose="02040503050406030204" pitchFamily="18" charset="0"/>
              </a:rPr>
              <a:t> </a:t>
            </a:r>
            <a:r>
              <a:rPr lang="en-US" sz="2800" dirty="0" err="1">
                <a:latin typeface="Cambria" panose="02040503050406030204" pitchFamily="18" charset="0"/>
              </a:rPr>
              <a:t>cụ</a:t>
            </a:r>
            <a:r>
              <a:rPr lang="en-US" sz="2800" dirty="0">
                <a:latin typeface="Cambria" panose="02040503050406030204" pitchFamily="18" charset="0"/>
              </a:rPr>
              <a:t> </a:t>
            </a:r>
            <a:r>
              <a:rPr lang="en-US" sz="2800" dirty="0" err="1">
                <a:latin typeface="Cambria" panose="02040503050406030204" pitchFamily="18" charset="0"/>
              </a:rPr>
              <a:t>lập</a:t>
            </a:r>
            <a:r>
              <a:rPr lang="en-US" sz="2800" dirty="0">
                <a:latin typeface="Cambria" panose="02040503050406030204" pitchFamily="18" charset="0"/>
              </a:rPr>
              <a:t> </a:t>
            </a:r>
            <a:r>
              <a:rPr lang="en-US" sz="2800" dirty="0" err="1">
                <a:latin typeface="Cambria" panose="02040503050406030204" pitchFamily="18" charset="0"/>
              </a:rPr>
              <a:t>trình</a:t>
            </a:r>
            <a:r>
              <a:rPr lang="en-US" sz="2800" dirty="0">
                <a:latin typeface="Cambria" panose="02040503050406030204" pitchFamily="18" charset="0"/>
              </a:rPr>
              <a:t>:</a:t>
            </a:r>
          </a:p>
          <a:p>
            <a:pPr lvl="1"/>
            <a:r>
              <a:rPr lang="en-US" sz="2400" dirty="0">
                <a:latin typeface="Cambria" panose="02040503050406030204" pitchFamily="18" charset="0"/>
              </a:rPr>
              <a:t>Python </a:t>
            </a:r>
            <a:r>
              <a:rPr lang="en-US" sz="2400" dirty="0" err="1">
                <a:latin typeface="Cambria" panose="02040503050406030204" pitchFamily="18" charset="0"/>
              </a:rPr>
              <a:t>bản</a:t>
            </a:r>
            <a:r>
              <a:rPr lang="en-US" sz="2400" dirty="0">
                <a:latin typeface="Cambria" panose="02040503050406030204" pitchFamily="18" charset="0"/>
              </a:rPr>
              <a:t> 3+</a:t>
            </a:r>
          </a:p>
          <a:p>
            <a:pPr lvl="1"/>
            <a:r>
              <a:rPr lang="en-US" sz="2400" dirty="0" err="1">
                <a:latin typeface="Cambria" panose="02040503050406030204" pitchFamily="18" charset="0"/>
              </a:rPr>
              <a:t>PyCharm</a:t>
            </a:r>
            <a:endParaRPr lang="en-US" sz="2400" dirty="0">
              <a:latin typeface="Cambria" panose="02040503050406030204" pitchFamily="18" charset="0"/>
            </a:endParaRPr>
          </a:p>
          <a:p>
            <a:pPr lvl="1"/>
            <a:r>
              <a:rPr lang="en-US" sz="2400" dirty="0" smtClean="0">
                <a:latin typeface="Cambria" panose="02040503050406030204" pitchFamily="18" charset="0"/>
              </a:rPr>
              <a:t>IDLE</a:t>
            </a:r>
          </a:p>
          <a:p>
            <a:pPr lvl="1"/>
            <a:endParaRPr lang="en-US" sz="2400" dirty="0">
              <a:latin typeface="Cambria" panose="02040503050406030204" pitchFamily="18" charset="0"/>
            </a:endParaRPr>
          </a:p>
          <a:p>
            <a:pPr lvl="1"/>
            <a:r>
              <a:rPr lang="en-US" sz="2400" dirty="0" smtClean="0">
                <a:latin typeface="Cambria" panose="02040503050406030204" pitchFamily="18" charset="0"/>
              </a:rPr>
              <a:t>SEARCH “ANACONDA” </a:t>
            </a:r>
          </a:p>
          <a:p>
            <a:pPr marL="457200" lvl="1" indent="0">
              <a:buNone/>
            </a:pPr>
            <a:endParaRPr lang="en-US" dirty="0">
              <a:latin typeface="Cambria" panose="02040503050406030204" pitchFamily="18" charset="0"/>
            </a:endParaRPr>
          </a:p>
        </p:txBody>
      </p:sp>
    </p:spTree>
    <p:extLst>
      <p:ext uri="{BB962C8B-B14F-4D97-AF65-F5344CB8AC3E}">
        <p14:creationId xmlns:p14="http://schemas.microsoft.com/office/powerpoint/2010/main" val="50869328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2040</TotalTime>
  <Words>410</Words>
  <Application>Microsoft Office PowerPoint</Application>
  <PresentationFormat>Widescreen</PresentationFormat>
  <Paragraphs>71</Paragraphs>
  <Slides>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Calibri</vt:lpstr>
      <vt:lpstr>Cambria</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Than Hieu Nguyen</cp:lastModifiedBy>
  <cp:revision>518</cp:revision>
  <dcterms:created xsi:type="dcterms:W3CDTF">2011-04-06T04:04:31Z</dcterms:created>
  <dcterms:modified xsi:type="dcterms:W3CDTF">2024-03-25T03:02:48Z</dcterms:modified>
</cp:coreProperties>
</file>